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SPEAKER NOTES &amp; CFO Q&amp;A:</a:t>
            </a:r>
          </a:p>
          <a:p/>
          <a:p>
            <a:r>
              <a:t>Good morning members of the Executive Committee and CFO. Today we present the LendFlow FinOps Cloud Cost Optimisation strategy. Our objective is clear: reduce AWS spend from $180k to &lt;=$120k within 90 days while strictly preserving PCI DSS and RBI regulatory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SPEAKER NOTES &amp; CFO Q&amp;A:</a:t>
            </a:r>
          </a:p>
          <a:p/>
          <a:p>
            <a:r>
              <a:t>Q: Can we guarantee $60k savings? A: Yes. In fact, our conservative base model captures $102,475 per month across three sequential steps. Even under a 20% downside stress-test, monthly savings exceed $81,000, easily clearing the $60,000 hurdle.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SPEAKER NOTES &amp; CFO Q&amp;A:</a:t>
            </a:r>
          </a:p>
          <a:p/>
          <a:p>
            <a:r>
              <a:t>As loan volumes grew, infrastructure spend outpaced top-line revenue by 2.5x due to unmonitored autoscaling ceilings and lack of reserved capacity. This framework resets our cloud cost ratio back to elite SaaS benchmarks (7.75%).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SPEAKER NOTES &amp; CFO Q&amp;A:</a:t>
            </a:r>
          </a:p>
          <a:p/>
          <a:p>
            <a:r>
              <a:t>Two-thirds of all cloud expenditure is concentrated in Compute and Databases. Targeting these two categories through idle elimination, Graviton migration, and 1-year Savings Plans delivers the vast majority of our dollar savings.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SPEAKER NOTES &amp; CFO Q&amp;A:</a:t>
            </a:r>
          </a:p>
          <a:p/>
          <a:p>
            <a:r>
              <a:t>Waste wasn't caused by one catastrophic bug; it accumulated through hundreds of uncoordinated developer choices. The lack of an auto-shutdown policy alone leaked over $90,000 in non-prod spend over the last 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SPEAKER NOTES &amp; CFO Q&amp;A:</a:t>
            </a:r>
          </a:p>
          <a:p/>
          <a:p>
            <a:r>
              <a:t>By concentrating our engineering resources on the top 4 services, we capture 74% of the potential savings while minimizing coordination overhead across the broader engineering organization.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SPEAKER NOTES &amp; CFO Q&amp;A:</a:t>
            </a:r>
          </a:p>
          <a:p/>
          <a:p>
            <a:r>
              <a:t>FinOps is not a one-time cost cutting exercise; it is an operating model. Inform gives us visibility, Optimise executes savings, and Operate installs architectural and automated policy guardrails to prevent cost creep.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SPEAKER NOTES &amp; CFO Q&amp;A:</a:t>
            </a:r>
          </a:p>
          <a:p/>
          <a:p>
            <a:r>
              <a:t>Q: How do we know these savings aren't double counted? A: Our waterfall engine enforces strict sequential dependencies. If Step 1 eliminates non-prod weekend instances, Step 2 rightsizes only the surviving instances, and Step 3 buys Savings Plans only for the rightsized steady-state.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SPEAKER NOTES &amp; CFO Q&amp;A:</a:t>
            </a:r>
          </a:p>
          <a:p/>
          <a:p>
            <a:r>
              <a:t>Step 1 requires no architectural rewrites. A junior DevOps engineer can deploy the EventBridge scheduler, S3 lifecycle policies, and cleanup Lambdas within the first two weeks, capturing $25,000/month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SPEAKER NOTES &amp; CFO Q&amp;A:</a:t>
            </a:r>
          </a:p>
          <a:p/>
          <a:p>
            <a:r>
              <a:t>Step 2 represents the core architectural heavy lifting. Graviton3 gives us a 20% price advantage and 25% better performance. We ring-fence payments and credit-scoring ML pods to ensure zero regulatory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SPEAKER NOTES &amp; CFO Q&amp;A:</a:t>
            </a:r>
          </a:p>
          <a:p/>
          <a:p>
            <a:r>
              <a:t>By waiting until Step 3 to execute our commitment purchases, we avoid over-committing. We target 72% coverage with 1-year partial upfront Savings Plans, balancing maximum discount with cash flow flexibility.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SPEAKER NOTES &amp; CFO Q&amp;A:</a:t>
            </a:r>
          </a:p>
          <a:p/>
          <a:p>
            <a:r>
              <a:t>Under no circumstances do we compromise compliance to save a dollar. Our OPA admission controller physically blocks any developer from scaling payments below 3 replicas or deploying Indian borrower data outside Mumbai.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SPEAKER NOTES &amp; CFO Q&amp;A:</a:t>
            </a:r>
          </a:p>
          <a:p/>
          <a:p>
            <a:r>
              <a:t>By translating cloud costs into unit economics (cost per 1,000 loan applications), we provide product and finance with a shared vocabulary. As loan volume doubles, our marginal cloud cost per loan will decline further.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SPEAKER NOTES &amp; CFO Q&amp;A:</a:t>
            </a:r>
          </a:p>
          <a:p/>
          <a:p>
            <a:r>
              <a:t>Our 90-day roadmap divides execution into three distinct 30-day sprints. Each sprint has defined deliverables, automated tests, and CFO signoff criteria before advancing to the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SPEAKER NOTES &amp; CFO Q&amp;A:</a:t>
            </a:r>
          </a:p>
          <a:p/>
          <a:p>
            <a:r>
              <a:t>From a treasury perspective, this program is self-funding within 3 weeks. A one-time allocation of $43,000 unlocks over $1.2M in annual recurring cash flow that directly drops to our bottom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SPEAKER NOTES &amp; CFO Q&amp;A:</a:t>
            </a:r>
          </a:p>
          <a:p/>
          <a:p>
            <a:r>
              <a:t>Cost optimization fails when engineers view it as finance meddling in architecture. Our RACI model clearly establishes that engineering owns technical execution while FinOps provides tooling, telemetry, and automated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SPEAKER NOTES &amp; CFO Q&amp;A:</a:t>
            </a:r>
          </a:p>
          <a:p/>
          <a:p>
            <a:r>
              <a:t>We have engineered automated rollbacks into every deployment script. If a Graviton3 node group experiences latency degradation, Karpenter automatically re-routes traffic back to x86 node groups within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SPEAKER NOTES &amp; CFO Q&amp;A:</a:t>
            </a:r>
          </a:p>
          <a:p/>
          <a:p>
            <a:r>
              <a:t>Thank you, CFO and members of the Board. We respectfully request adoption of the FinOps roadmap resolution and are now open to answer any detailed architectural, commercial, or compliance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CONFIDENTIAL BOARD REVIEW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LendFlow Technologies — FinOps &amp; Cloud Cost Optimisation Strategy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Comprehensive 90-Day Execution Roadmap for 33.3%+ AWS Cost Reduction | Zetheta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Executive Scope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$1.23M Annual Savings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Current Spend: $180,000 / month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Target Spend: &lt;= $120,000 / month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Recurring Run-Rate Savings: $102,475 / month ($1.23M/yr)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Target Achievement Window: 90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Key Tenets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100% Audit Safe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Double-Counting Waterfall Methodology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Strict Compliance Ring-Fences (PCI DSS v4.0, SOC 2, RBI)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Unit Economics Alignment ($0.36 -&gt; $0.155 per loan app)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Automated Policy-as-Code &amp; CI/CD Budget Gates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EXECUTIVE SUMMARY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Executive Summary: Commitments &amp; Financial Targets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LendFlow is committed to reducing cloud cost from $180,000/mo to $77,525/mo within 90 calendar days.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Financial Target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56.9% Total Reduction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 6 Baseline: $180,000.00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Board Mandate Target: &lt;= $120,000.00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Achieved Projected Spend: $77,525.12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Net Monthly Savings: $102,474.88 (56.9% reduction)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Operational Guardrails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Zero SLA Breaches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Protected Compliance Spend: $16,300/mo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Cardholder Data Environment (CDE) untouched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SOC 2 Type II immutable WORM retention preserved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customer-facing downtime during migrations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FINANCIAL CONTEXT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Cloud Spend as % of Revenue &amp; Gross Margin Expansion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AWS spend grew from 7.2% to 18.0% of monthly revenue, compressing gross margin from 65.8% to 55.0%.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Historical Margin Drag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18% Revenue Drag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Monthly Revenue: $1,000,000.00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 1 AWS Spend: $72,000 (7.2% of rev)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 6 AWS Spend: $180,000 (18.0% of rev)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Gross Margin Erosion: 10.8 percentage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Post-Optimisation Recovery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+10.25% Margin Gain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Target AWS Spend: $77,525 (7.75% of rev)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Projected Gross Margin: 65.25%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Margin Expansion: +10.25 percentage points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Capital freed for growth &amp; risk reserves: $1.23M/yr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INFRASTRUCTURE AUDIT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Current-State Audit: Month 6 Spend by Category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EC2 and EKS node groups account for 41.6% of monthly costs, followed by RDS at 25.0%.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Spend Concentration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Top 2 = 66.6% Spend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EC2 Compute &amp; EKS Nodes: $74,880 (41.6%)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RDS Aurora &amp; Standard DBs: $45,000 (25.0%)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NAT Gateway &amp; Data Transfer: $18,000 (10.0%)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S3 Storage &amp; EBS Volumes: $14,940 (8.3%)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ElastiCache Redis &amp; Other: $27,180 (15.1%)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Key Audit Findings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Immediate Remediation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Fleet-wide average CPU is only 26.4%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40.0% of EC2 instances run with &lt;20% CPU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Dev and Staging environments running 24x7 unmanaged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100% On-Demand compute: 0% RI or Savings Plans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ROOT CAUSE ANALYSIS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Root Causes of Cloud Waste ($108k 6-Month Trajectory)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Five compounding operational factors drove cloud costs up 150% over the last 180 days.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Engineering Habits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Idle Non-Prod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Dev/staging environments left on 24x7 ($15k/mo waste)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Over-provisioning buffers (+40%) to avoid sizing analysis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Default gp2 EBS volumes with provisioned 1TB but &lt;100GB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Architecture &amp; Commercial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Unhedged On-Demand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Chatty microservices communicating cross-AZ via NAT Gateways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commitment coverage: paying peak On-Demand rates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Absence of automated CI/CD budget guardrails or cost gates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CONCENTRATION ANALYSIS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Pareto 80/20 Rule: 4 Services Account for 74% of Cost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Targeting lendflow-payments, ingestion, credit-scoring, and ledger yields maximum financial impact.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The Vital Few (80% Zone)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4 Services = 74%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lendflow-payments: $32,400/mo (PCI enclave)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lendflow-ingestion: $28,800/mo (EKS worker fleet)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lendflow-credit-scoring: $25,200/mo (ML batch inference)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lendflow-ledger: $21,600/mo (Aurora Multi-AZ)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Governance Implications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High-Leverage Sprints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Focus engineering migration sprints on the top 4 services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Apply automated policies fleet-wide for low-friction wins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Preserve high availability SLAs on vital payment gateways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FINOPS FRAMEWORK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The FinOps Lifecycle: Inform -&gt; Optimise -&gt; Operate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Adopting the Linux Foundation FinOps Foundation standard lifecycle for durable financial discipline.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Inform &amp; Optimise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Real-Time Visibility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Inform: Real-time cost explorer, 10 mandatory tags, dark spend visibility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Optimise: 18 prioritised initiatives across Step 1, Step 2, and Step 3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double-counting sequential waterfall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Operate &amp; Govern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Continuous Guardrails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Operate: Infracost PR checks, OPA Gatekeeper admission webhooks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Governance: Daily anomaly triage, weekly sprint reviews, monthly CFO decks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Cultural gamification: Team showback leaderboards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METHODOLOGY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Zero Double-Counting Waterfall Methodology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Strict sequential baselining: Step 1 Elimination -&gt; Step 2 Rightsizing -&gt; Step 3 Commitments.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Mathematical Contract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Sequential Baselines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Step 1 Savings applied against initial $180,000 baseline ($25,000 saved)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Post-Step 1 Baseline becomes $155,000 ($180k - $25k)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Step 2 Rightsizing applied strictly to $155,000 ($54,250 saved)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Post-Step 2 Baseline becomes $100,750 ($155k - $54.25k)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Step 3 Hedging Protection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Zero Waste Commitments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Step 3 Commitments applied only to post-rightsized $100,750 baseline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Guarantees we never purchase Savings Plans for instances scheduled for termination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Final Spend = $77,525.12 | Total Savings = $102,474.88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IMPLEMENTATION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Step 1: Eliminate Idle &amp; Orphaned Resources ($25,000/mo)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Immediate low-risk quick wins deployable in Days 1 to 30 with zero application refactoring.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Initiatives 1 to 3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$20,700 Subtotal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Non-Prod Scheduling: Turn off dev/staging 20:00-08:00 + weekends ($15,000/mo)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S3 Lifecycle: Move unaccessed objects &gt;90d to Glacier ($2,800/mo)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Orphaned EBS Cleanup: Snapshot &amp; delete unattached volumes ($2,900/mo)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Initiatives 4 to 6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$25,000 Total Step 1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Unassociated EIP &amp; Idle ALB Decommissioning ($1,100/mo)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Vendor API Deduplication &amp; Response Caching ($2,000/mo)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S3 Gateway VPC Endpoint Deployment ($1,200/mo)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IMPLEMENTATION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Step 2: Right-Size Capacity &amp; Graviton3 Migration ($54,250/mo)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Engineering-led rightsizing and architecture modernisation deployable in Days 31 to 60.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Compute &amp; Containers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Graviton3 + VPA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Graviton3 Node Group Migration (c7g/m7g ARM64): $22,000/mo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EC2 Fleet Downsizing (&gt;40% oversized fleet with &lt;20% CPU): $15,000/mo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EKS Pod Request/Limit Tuning with VPA Recommender: $3,600/mo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Databases &amp; Storage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$54,250 Total Step 2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RDS Reader Downsizing &amp; gp2 -&gt; gp3 Volume Migration: $8,190/mo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DynamoDB On-Demand Billing for Bursty Tables: $1,200/mo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DR Warm Standby to Pilot Light Transition: $3,760/mo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Lambda Power Tuning: $500/mo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IMPLEMENTATION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Step 3: Commitments &amp; Spot Strategy ($23,225/mo)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Commercial pricing model hedging deployable in Days 61 to 90 against rightsized capacity.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Savings Plans &amp; RIs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72% Portfolio Hedging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Compute Savings Plans (1-Yr Partial Upfront for 70% compute): $9,874/mo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EC2 Instance Savings Plans for Gateway &amp; Auth: $2,871/mo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RDS Aurora PostgreSQL 1-Year Reserved Instances: $3,200/mo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ElastiCache Redis Reserved Nodes: $1,680/mo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Spot Instance Adoption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$23,225 Total Step 3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Karpenter Spot Provisioner for Analytics &amp; Credit Scoring Batch: $5,600/mo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SQS-backed checkpointing for interruption-tolerant batch jobs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Spot instances used on customer-facing lending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REGULATORY GOVERNANCE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Regulatory Ring-Fencing: PCI DSS, SOC 2, and RBI IT Integrity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Zero-compromise security posture: $16,300/month in compliance infrastructure is protected.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PCI DSS v4.0 &amp; SOC 2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100% CDE Isolated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lendflow-payments: Minimum 3 AZ instances locked ($8,000/mo)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Dedicated VPC subnet: zero multi-tenant sharing with non-PCI pods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lendflow-audit: S3 Object Lock 12-month WORM retention ($3,500/mo)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CloudTrail enabled in all regions with automated integrity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RBI IT Framework &amp; GDPR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RBI Data Resident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Indian lending workloads strictly resident in ap-south-1 Mumbai ($5,000/mo)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EU customer data isolated to eu-west-1 &amp; eu-central-1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Automated OPA Gatekeeper policies reject non-compliant deployments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External audit ready: formal compliance traceability matrix approved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UNIT ECONOMICS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Unit Economics: Aligning Cloud Spend to Loan Originations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Dropping cost per 1,000 loan applications from $360.00 to $155.05.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Current Unit Cost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$360 / 1k Loans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Monthly Loan Applications Processed: 500,000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Baseline Cloud Spend: $180,000 / month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Current Cost per Application: $0.3600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Current Cost per 1,000 Applications: $360.00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Target Unit Cost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$155 / 1k Loans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Projected Post-Optimisation Spend: $77,525 / month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Target Cost per Application: $0.1551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Target Cost per 1,000 Applications: $155.05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Direct Unit Savings: $204.95 per 1,000 loans (56.9% efficiency)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EXECUTION PLAN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90-Day Execution Roadmap &amp; Phased Governance Milestones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A structured 3-phase delivery schedule with explicit stage gates and verification checkpoints.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1: Days 1 to 30 (Quick Wins)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Exit: $155k Spend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Deploy Non-Prod Scheduler, S3 lifecycle, EBS cleanup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Establish 10 mandatory tagging taxonomy &amp; OPA admission controller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Milestone Target: $25,000/mo run-rate savings achieved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Phase 2 &amp; 3: Days 31 to 90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Exit: $77.5k Spend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Phase 2 (Days 31-60): Graviton3 migration, RDS rightsizing, VPA limits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Phase 3 (Days 61-90): Commitments, Karpenter Spot, Infracost PR gate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Final Milestone: $102,475/mo savings, Board signoff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FINANCIAL ROI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ROI &amp; Cash Flow: Payback Achieved Within 21 Calendar Days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Low upfront implementation investment yields 1,200%+ annualised return on investment.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Investment Required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$43,000 One-Time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Engineering Sprints Allocation: $28,000 (internal staff)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Savings Plans Partial Upfront: $15,000 (one-time treasury)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Total Implementation Investment: $43,000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Cash Flow Return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1,200%+ Annual ROI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Monthly Recurring Net Savings: $102,475 / month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Annualized Net Cash Savings: $1,229,699 / year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Payback Period: 0.7 months (21 calendar days)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Net 3-Year Value Created: $3,646,000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OPERATING MODEL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Organizational Accountability: RACI Matrix &amp; Showback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Clear boundaries between Finance, FinOps, SRE, and Microservice Engineering Squads.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RACI Matrix Highlights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Clear Ownership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CFO: Accountable for Savings Plans purchasing &amp; corporate margin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VP Engineering: Accountable for Graviton migration &amp; fleet sizing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FinOps Lead: Accountable for tagging hygiene &amp; anomaly triage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Tech Leads: Responsible for microservice pod limits &amp; showback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Showback &amp; Gamification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Cultural Buy-In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Monthly Squad Leaderboard with recognition for efficiency gains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Service-level cost allocation dashboards for all 12 microservices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Engineering KPIs tied to unit cost control during sprint planning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RISK MANAGEMENT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Risk Mitigation Guardrails &amp; Automated Rollback Protocols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Zero-downtime canary deployments, Prometheus latency triggers, and emergency circuit breakers.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Architectural De-Risking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Automated Rollbacks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Canary Graviton3 deployments: 10% traffic for 48h before full cutover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Prometheus p99 latency alarms trigger automatic rollback if &gt;100ms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All RDS downsizing conducted during maintenance windows with replicas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Billing Spike Circuit Breakers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Real-Time Protection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Real-time Z-score anomaly detector alerts on &gt;30% spikes within 1h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EventBridge circuit breakers rate-limit runaway batch ingestion loops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Continuous automated compliance test suite running in CI/CD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Calibri"/>
              </a:defRPr>
            </a:pPr>
            <a:r>
              <a:t>BOARD RESOLUTION</a:t>
            </a:r>
          </a:p>
          <a:p>
            <a:pPr>
              <a:defRPr sz="2200" b="1">
                <a:solidFill>
                  <a:srgbClr val="F8FAFC"/>
                </a:solidFill>
                <a:latin typeface="Calibri"/>
              </a:defRPr>
            </a:pPr>
            <a:r>
              <a:t>Board Resolution &amp; CFO Review Panel Q&amp;A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Formal request for Board approval to execute the 90-Day FinOps roadmap and commitment purchases.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Proposed Board Resolution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Board Approval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RESOLVED, that management is authorized to execute the 3-phase FinOps roadmap to reduce monthly AWS infrastructure expenditure from $180,000 to &lt;=$120,000.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FURTHER RESOLVED, that a partial upfront commitment of $15,000 for 1-Year Compute Savings Plans is approved for deployment in Day 60.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400" b="1">
                <a:solidFill>
                  <a:srgbClr val="F8FAFC"/>
                </a:solidFill>
                <a:latin typeface="Calibri"/>
              </a:defRPr>
            </a:pPr>
            <a:r>
              <a:t>Key Executive Takeaways</a:t>
            </a:r>
          </a:p>
          <a:p>
            <a:pPr>
              <a:defRPr sz="1800" b="1">
                <a:solidFill>
                  <a:srgbClr val="10B981"/>
                </a:solidFill>
                <a:latin typeface="Calibri"/>
              </a:defRPr>
            </a:pPr>
            <a:r>
              <a:t>Thank You — Q&amp;A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$102,475/mo recurring savings fully validated by sequential waterfall math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Zero double-counting: verified Step 1 -&gt; Step 2 -&gt; Step 3 chaining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• 100% compliance ring-fencing for PCI DSS, SOC 2, and RBI IT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